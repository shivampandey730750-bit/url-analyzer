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51460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513332"/>
            <a:ext cx="68580" cy="68580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67612"/>
            <a:ext cx="222199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08111F"/>
                </a:solidFill>
                <a:latin typeface="Aptos"/>
              </a:defRPr>
            </a:pPr>
            <a:r>
              <a:t>HACKATHON PROJECT  ?  CYBER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200" b="1" i="0">
                <a:solidFill>
                  <a:srgbClr val="F5F8FC"/>
                </a:solidFill>
                <a:latin typeface="Aptos Display"/>
              </a:defRPr>
            </a:pPr>
            <a:r>
              <a:t>ScamLens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80360"/>
            <a:ext cx="52120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55E0D0"/>
                </a:solidFill>
                <a:latin typeface="Aptos Display"/>
              </a:defRPr>
            </a:pPr>
            <a:r>
              <a:t>Spot the signal.</a:t>
            </a:r>
            <a:br/>
            <a:r>
              <a:t>Skip the scam.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8795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 i="0">
                <a:solidFill>
                  <a:srgbClr val="9BAEC4"/>
                </a:solidFill>
                <a:latin typeface="Aptos"/>
              </a:defRPr>
            </a:pPr>
            <a:r>
              <a:t>A browser-based scam-awareness demo that turns suspicious links and messages into clear, explainable warning signs.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89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15">
              <a:defRPr sz="900" b="1" i="0">
                <a:solidFill>
                  <a:srgbClr val="F5F8FC"/>
                </a:solidFill>
                <a:latin typeface="Aptos"/>
              </a:defRPr>
            </a:pPr>
            <a:r>
              <a:t>DETECT  /  UNDERSTAND  /  STAY SAFE</a:t>
            </a:r>
          </a:p>
        </p:txBody>
      </p:sp>
      <p:sp>
        <p:nvSpPr>
          <p:cNvPr id="14" name="Oval 13"/>
          <p:cNvSpPr/>
          <p:nvPr/>
        </p:nvSpPr>
        <p:spPr>
          <a:xfrm>
            <a:off x="6652260" y="1321308"/>
            <a:ext cx="4160520" cy="4160520"/>
          </a:xfrm>
          <a:prstGeom prst="ellipse">
            <a:avLst/>
          </a:prstGeom>
          <a:noFill/>
          <a:ln w="1524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31736" y="1700784"/>
            <a:ext cx="3401568" cy="3401568"/>
          </a:xfrm>
          <a:prstGeom prst="ellipse">
            <a:avLst/>
          </a:prstGeom>
          <a:noFill/>
          <a:ln w="12700">
            <a:solidFill>
              <a:srgbClr val="28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15784" y="2084832"/>
            <a:ext cx="2633472" cy="2633472"/>
          </a:xfrm>
          <a:prstGeom prst="ellipse">
            <a:avLst/>
          </a:prstGeom>
          <a:noFill/>
          <a:ln w="10160">
            <a:solidFill>
              <a:srgbClr val="34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48772" y="3369564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25247" y="40701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69571" y="4686157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24644" y="514340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6191" y="538670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44840" y="538670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76388" y="514340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1460" y="4686157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75784" y="40701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52260" y="3369564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75784" y="2669019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1460" y="2052970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76388" y="159572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44840" y="1352425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6191" y="1352425"/>
            <a:ext cx="64008" cy="64008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24644" y="1595722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69571" y="2052970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25247" y="2669019"/>
            <a:ext cx="64008" cy="64008"/>
          </a:xfrm>
          <a:prstGeom prst="roundRect">
            <a:avLst>
              <a:gd name="adj" fmla="val 12000"/>
            </a:avLst>
          </a:prstGeom>
          <a:solidFill>
            <a:srgbClr val="3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54112" y="2423160"/>
            <a:ext cx="1956816" cy="1956816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entagon 35"/>
          <p:cNvSpPr/>
          <p:nvPr/>
        </p:nvSpPr>
        <p:spPr>
          <a:xfrm rot="10800000">
            <a:off x="8275320" y="2788920"/>
            <a:ext cx="914400" cy="1143000"/>
          </a:xfrm>
          <a:prstGeom prst="homePlate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513064" y="3355848"/>
            <a:ext cx="192024" cy="192024"/>
          </a:xfrm>
          <a:prstGeom prst="line">
            <a:avLst/>
          </a:prstGeom>
          <a:ln w="381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05088" y="3163824"/>
            <a:ext cx="292608" cy="384048"/>
          </a:xfrm>
          <a:prstGeom prst="line">
            <a:avLst/>
          </a:prstGeom>
          <a:ln w="381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37960" y="1883664"/>
            <a:ext cx="118872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29400" y="1979676"/>
            <a:ext cx="68580" cy="68580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1933956"/>
            <a:ext cx="8961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URL CHECK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334256"/>
            <a:ext cx="1600200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38360" y="4430268"/>
            <a:ext cx="68580" cy="68580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4384548"/>
            <a:ext cx="130759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MESSAGE CHECK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5257800"/>
            <a:ext cx="4206240" cy="4846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5404104"/>
            <a:ext cx="3840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PATTERN-BASED  ?  PRIVATE-BY-DESIGN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A convincing message can look ordinary.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The risky part is often hidden in the details?and users have to decide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5074920" cy="340156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INBOX  /  NEW MESSAGE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90672"/>
            <a:ext cx="4553712" cy="2176272"/>
          </a:xfrm>
          <a:prstGeom prst="roundRect">
            <a:avLst>
              <a:gd name="adj" fmla="val 12000"/>
            </a:avLst>
          </a:prstGeom>
          <a:solidFill>
            <a:srgbClr val="0C1728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3284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ACCOUNT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7033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Your account will be suspended.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1239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Verify now to restore access: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471416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F6B7A"/>
                </a:solidFill>
                <a:latin typeface="Aptos"/>
              </a:defRPr>
            </a:pPr>
            <a:r>
              <a:t>paypa1-secure-verify.tk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1288" y="4892040"/>
            <a:ext cx="4005072" cy="0"/>
          </a:xfrm>
          <a:prstGeom prst="line">
            <a:avLst/>
          </a:prstGeom>
          <a:ln w="12700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1288" y="5047488"/>
            <a:ext cx="4069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1">
                <a:solidFill>
                  <a:srgbClr val="9BAEC4"/>
                </a:solidFill>
                <a:latin typeface="Aptos"/>
              </a:defRPr>
            </a:pPr>
            <a:r>
              <a:t>Looks familiar. Feels urgent. Deserves a pause.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700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USER IS LEFT 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906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63240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Guess under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92424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Urgency makes careful checks less likely.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3250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005072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Inspect unfamiliar clues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34256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Lookalike names and hidden destinations are easy to miss.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74336"/>
            <a:ext cx="82296" cy="82296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946904"/>
            <a:ext cx="4782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Find trustworthy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276088"/>
            <a:ext cx="47823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9BAEC4"/>
                </a:solidFill>
                <a:latin typeface="Aptos"/>
              </a:defRPr>
            </a:pPr>
            <a:r>
              <a:t>Technical warnings are not always easy to understand.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144768"/>
            <a:ext cx="10881360" cy="33832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622706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DESIGN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619963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Make scam-awareness fast, understandable, and actionable.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From ?Is this real?? to ?Here?s what to check.?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ScamLens gives everyday users a simple place to inspect suspicious content and learn what raised concern.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63A8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BRING IT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Paste a URL, SMS, email?or screenshot text.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3730752"/>
            <a:ext cx="301752" cy="0"/>
          </a:xfrm>
          <a:prstGeom prst="line">
            <a:avLst/>
          </a:prstGeom>
          <a:ln w="2540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78808" y="3520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63A8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55E0D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3912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CHECK THE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Look for common suspicious patterns.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18704" y="3730752"/>
            <a:ext cx="301752" cy="0"/>
          </a:xfrm>
          <a:prstGeom prst="line">
            <a:avLst/>
          </a:prstGeom>
          <a:ln w="2540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73568" y="3520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55E0D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2633472"/>
            <a:ext cx="3383280" cy="226771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88950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 i="0">
                <a:solidFill>
                  <a:srgbClr val="65D6A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42448" y="2907792"/>
            <a:ext cx="987552" cy="283464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33888" y="3003804"/>
            <a:ext cx="68580" cy="68580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958084"/>
            <a:ext cx="69494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5F8FC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5021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UNDERSTAND WHY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968496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9BAEC4"/>
                </a:solidFill>
                <a:latin typeface="Aptos"/>
              </a:defRPr>
            </a:pPr>
            <a:r>
              <a:t>See risk indicators and practical guidance.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285232"/>
            <a:ext cx="10927080" cy="630936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47725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PRODUCT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40410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F5F8FC"/>
                </a:solidFill>
                <a:latin typeface="Aptos Display"/>
              </a:defRPr>
            </a:pPr>
            <a:r>
              <a:t>Explain the clue?not just the score.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449824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Clear, educational pattern assessments; never a safety guarantee.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ONE TOOLKIT  /  FOUR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Meet the ScamLens analyzers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A single, responsive experience for the kinds of suspicious content users encounter every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42032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77063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25496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63A8FF"/>
                </a:solidFill>
                <a:latin typeface="Aptos Display"/>
              </a:defRPr>
            </a:pPr>
            <a:r>
              <a:t>Link2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63A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9900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6" y="3374136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HTTPS, IP-host links, lookalike brands, suspicious domains and account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542032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7375" y="277063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2825496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65D6A1"/>
                </a:solidFill>
                <a:latin typeface="Aptos Display"/>
              </a:defRPr>
            </a:pPr>
            <a:r>
              <a:t>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65D6A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9900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374136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Urgency, OTP requests, prizes, payment language and shortened links.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206240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4434840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89703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FFC66D"/>
                </a:solidFill>
                <a:latin typeface="Aptos Display"/>
              </a:defRPr>
            </a:pPr>
            <a:r>
              <a:t>@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216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8216" y="46542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5038344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Sender, subject, body and links checked for common scam patterns.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4206240"/>
            <a:ext cx="5166360" cy="1399032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37375" y="4434840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5" y="4489703"/>
            <a:ext cx="658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 i="0">
                <a:solidFill>
                  <a:srgbClr val="55E0D0"/>
                </a:solidFill>
                <a:latin typeface="Aptos Display"/>
              </a:defRPr>
            </a:pPr>
            <a:r>
              <a:t>IMG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6542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SCREENSHOT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5038344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9BAEC4"/>
                </a:solidFill>
                <a:latin typeface="Aptos"/>
              </a:defRPr>
            </a:pPr>
            <a:r>
              <a:t>Upload a local preview, then paste visible text for analysis. No automatic OCR.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5971032"/>
            <a:ext cx="10707624" cy="457200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6117336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BONUS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" y="605332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Cybersecurity guidance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608076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Prepared educational replies?not a live AI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Simple checks. Clear explanations.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A lightweight browser demo evaluates common patterns and returns an educational risk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68580" cy="749808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63A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78892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8346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URL  /  MESSAGE  /  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419856"/>
            <a:ext cx="0" cy="192024"/>
          </a:xfrm>
          <a:prstGeom prst="line">
            <a:avLst/>
          </a:prstGeom>
          <a:ln w="1651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675887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75887"/>
            <a:ext cx="68580" cy="749808"/>
          </a:xfrm>
          <a:prstGeom prst="rect">
            <a:avLst/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77055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55E0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81304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PATTERN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858768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Urgency  ?  OTP  ?  Lookalikes  ?  Links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4443983"/>
            <a:ext cx="0" cy="192024"/>
          </a:xfrm>
          <a:prstGeom prst="line">
            <a:avLst/>
          </a:prstGeom>
          <a:ln w="1651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4700016"/>
            <a:ext cx="5806440" cy="74980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00016"/>
            <a:ext cx="68580" cy="749808"/>
          </a:xfrm>
          <a:prstGeom prst="rect">
            <a:avLst/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0118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65D6A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83717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4882896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High risk  /  Caution  /  Low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596896"/>
            <a:ext cx="4334256" cy="3456432"/>
          </a:xfrm>
          <a:prstGeom prst="roundRect">
            <a:avLst>
              <a:gd name="adj" fmla="val 12000"/>
            </a:avLst>
          </a:prstGeom>
          <a:solidFill>
            <a:srgbClr val="111D2E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8803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EXAMPLE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3264408"/>
            <a:ext cx="3712463" cy="612648"/>
          </a:xfrm>
          <a:prstGeom prst="roundRect">
            <a:avLst>
              <a:gd name="adj" fmla="val 12000"/>
            </a:avLst>
          </a:prstGeom>
          <a:solidFill>
            <a:srgbClr val="2B202B"/>
          </a:solidFill>
          <a:ln w="12700">
            <a:solidFill>
              <a:srgbClr val="49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25512" y="345643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264" y="3456432"/>
            <a:ext cx="29260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5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HIGH RISK INDICATORS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488" y="41605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6" y="4133087"/>
            <a:ext cx="35021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Lookalike brand spelling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4462272"/>
            <a:ext cx="3502151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paypa1 uses a numeral in place of a letter.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3488" y="49834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6" y="4956048"/>
            <a:ext cx="35021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Uncommon domain 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5285232"/>
            <a:ext cx="3502151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9BAEC4"/>
                </a:solidFill>
                <a:latin typeface="Aptos"/>
              </a:defRPr>
            </a:pPr>
            <a:r>
              <a:t>.tk is flagged by the demo?s pattern checks.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5605272"/>
            <a:ext cx="3703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 i="1">
                <a:solidFill>
                  <a:srgbClr val="9BAEC4"/>
                </a:solidFill>
                <a:latin typeface="Aptos"/>
              </a:defRPr>
            </a:pPr>
            <a:r>
              <a:t>Illustrative example?not a live reputation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One suspicious link. A few useful clues.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Example URL: http://paypa1-secure-verify.tk/account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23744"/>
            <a:ext cx="6583680" cy="3474720"/>
          </a:xfrm>
          <a:prstGeom prst="roundRect">
            <a:avLst>
              <a:gd name="adj" fmla="val 12000"/>
            </a:avLst>
          </a:prstGeom>
          <a:solidFill>
            <a:srgbClr val="0B1524"/>
          </a:solidFill>
          <a:ln w="12700">
            <a:solidFill>
              <a:srgbClr val="30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2523744"/>
            <a:ext cx="6583680" cy="39319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670048"/>
            <a:ext cx="73152" cy="73152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670048"/>
            <a:ext cx="73152" cy="73152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0160" y="2670048"/>
            <a:ext cx="73152" cy="73152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784" y="2642616"/>
            <a:ext cx="3474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9BAEC4"/>
                </a:solidFill>
                <a:latin typeface="Aptos"/>
              </a:defRPr>
            </a:pPr>
            <a:r>
              <a:t>SCAMLENS  /  URL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1912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Check a suspicious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648456"/>
            <a:ext cx="5897880" cy="502920"/>
          </a:xfrm>
          <a:prstGeom prst="roundRect">
            <a:avLst>
              <a:gd name="adj" fmla="val 12000"/>
            </a:avLst>
          </a:prstGeom>
          <a:solidFill>
            <a:srgbClr val="08111F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4" y="3803904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http://paypa1-secure-verify.tk/account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16552"/>
            <a:ext cx="5897880" cy="1024128"/>
          </a:xfrm>
          <a:prstGeom prst="roundRect">
            <a:avLst>
              <a:gd name="adj" fmla="val 12000"/>
            </a:avLst>
          </a:prstGeom>
          <a:solidFill>
            <a:srgbClr val="2A1D2A"/>
          </a:solidFill>
          <a:ln w="12700">
            <a:solidFill>
              <a:srgbClr val="51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25296" y="464515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7048" y="46360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HIGH RISK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28616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D6C9D2"/>
                </a:solidFill>
                <a:latin typeface="Aptos"/>
              </a:defRPr>
            </a:pPr>
            <a:r>
              <a:t>? No HTTPS   ? Lookalike spelling   ? Uncommon .tk domain</a:t>
            </a:r>
            <a:br/>
            <a:r>
              <a:t>? Account/verification wording on a non-official-looking host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6974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DEMO NARRATION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136391"/>
            <a:ext cx="82296" cy="82296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3108960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1  Paste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3438144"/>
            <a:ext cx="33192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Start with an unexpected link.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9959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55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9288" y="3968496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2  Inspect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4297680"/>
            <a:ext cx="33192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Read the reasons?not only the label.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855464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4828032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3 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5157216"/>
            <a:ext cx="33192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Use the official site or contact channel.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9831" y="5705856"/>
            <a:ext cx="3593592" cy="393192"/>
          </a:xfrm>
          <a:prstGeom prst="roundRect">
            <a:avLst>
              <a:gd name="adj" fmla="val 12000"/>
            </a:avLst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5815584"/>
            <a:ext cx="3300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Do not click to ?test? a suspicious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41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TRUST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07008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Useful guidance?with honest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9BAEC4"/>
                </a:solidFill>
                <a:latin typeface="Aptos"/>
              </a:defRPr>
            </a:pPr>
            <a:r>
              <a:t>The prototype prioritizes clear explanations and local-first handling, while making its limits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60320"/>
            <a:ext cx="5230368" cy="3246120"/>
          </a:xfrm>
          <a:prstGeom prst="roundRect">
            <a:avLst>
              <a:gd name="adj" fmla="val 12000"/>
            </a:avLst>
          </a:prstGeom>
          <a:solidFill>
            <a:srgbClr val="10251F"/>
          </a:solidFill>
          <a:ln w="12700">
            <a:solidFill>
              <a:srgbClr val="254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834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65D6A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300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73552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Runs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02736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Pattern-based checks; no live threat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4114800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087368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Keeps screenshot preview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416552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The demo does not upload the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49286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6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901184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Stores recent checks on-device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230368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Local browser history for convenience.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560320"/>
            <a:ext cx="5230368" cy="3246120"/>
          </a:xfrm>
          <a:prstGeom prst="roundRect">
            <a:avLst>
              <a:gd name="adj" fmla="val 12000"/>
            </a:avLst>
          </a:prstGeom>
          <a:solidFill>
            <a:srgbClr val="2A2119"/>
          </a:solidFill>
          <a:ln w="12700">
            <a:solidFill>
              <a:srgbClr val="564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8346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FFC66D"/>
                </a:solidFill>
                <a:latin typeface="Aptos"/>
              </a:defRPr>
            </a:pPr>
            <a:r>
              <a:t>WHAT IT DOES NOT 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3300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273552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Cannot guarantee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02736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A low-risk result is not a clean bill of health.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411480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087368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No automatic screenshot 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16552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Users paste the visible text themselves.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9672" y="49286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901184"/>
            <a:ext cx="4325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No live AI or threat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230368"/>
            <a:ext cx="4325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Assistant replies are prepared; checks use basic patterns.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6163056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Never paste real passwords, OTPs, PINs, or payment details into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" y="39319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63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38862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 i="0">
                <a:solidFill>
                  <a:srgbClr val="08111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069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20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SCAMLENS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9BAEC4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00">
              <a:defRPr sz="900" b="1" i="0">
                <a:solidFill>
                  <a:srgbClr val="55E0D0"/>
                </a:solidFill>
                <a:latin typeface="Aptos"/>
              </a:defRPr>
            </a:pPr>
            <a:r>
              <a:t>WHAT?S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 i="0">
                <a:solidFill>
                  <a:srgbClr val="F5F8FC"/>
                </a:solidFill>
                <a:latin typeface="Aptos Display"/>
              </a:defRPr>
            </a:pPr>
            <a:r>
              <a:t>Build toward a</a:t>
            </a:r>
            <a:br/>
            <a:r>
              <a:t>safer first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80360"/>
            <a:ext cx="420624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 i="0">
                <a:solidFill>
                  <a:srgbClr val="9BAEC4"/>
                </a:solidFill>
                <a:latin typeface="Aptos"/>
              </a:defRPr>
            </a:pPr>
            <a:r>
              <a:t>ScamLens is a starting point: make the signal clearer, then make the checks smarter.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6712" y="135331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6093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63A8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15270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63A8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17739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Pattern-based demo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2295144"/>
            <a:ext cx="0" cy="246888"/>
          </a:xfrm>
          <a:prstGeom prst="line">
            <a:avLst/>
          </a:prstGeom>
          <a:ln w="19050">
            <a:solidFill>
              <a:srgbClr val="63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96712" y="2587752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84378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55E0D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76148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55E0D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0083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OCR + multilingual guidance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3529584"/>
            <a:ext cx="0" cy="246888"/>
          </a:xfrm>
          <a:prstGeom prst="line">
            <a:avLst/>
          </a:prstGeom>
          <a:ln w="19050">
            <a:solidFill>
              <a:srgbClr val="55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96712" y="3822191"/>
            <a:ext cx="5166360" cy="932688"/>
          </a:xfrm>
          <a:prstGeom prst="roundRect">
            <a:avLst>
              <a:gd name="adj" fmla="val 12000"/>
            </a:avLst>
          </a:prstGeom>
          <a:solidFill>
            <a:srgbClr val="101D30"/>
          </a:solidFill>
          <a:ln w="12700"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7822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65D6A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9959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80">
              <a:defRPr sz="800" b="1" i="0">
                <a:solidFill>
                  <a:srgbClr val="65D6A1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42428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Reputation data + browser extension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4946904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112437"/>
          </a:solidFill>
          <a:ln w="12700">
            <a:solidFill>
              <a:srgbClr val="24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846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130">
              <a:defRPr sz="1100" b="1" i="0">
                <a:solidFill>
                  <a:srgbClr val="55E0D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084064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5F8FC"/>
                </a:solidFill>
                <a:latin typeface="Aptos Display"/>
              </a:defRPr>
            </a:pPr>
            <a:r>
              <a:t>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21224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 i="0">
                <a:solidFill>
                  <a:srgbClr val="9BAEC4"/>
                </a:solidFill>
                <a:latin typeface="Aptos"/>
              </a:defRPr>
            </a:pPr>
            <a:r>
              <a:t>ScamLens  /  Detect. Understand. Stay Safe.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19088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spcA="75">
              <a:defRPr sz="800" b="1" i="0">
                <a:solidFill>
                  <a:srgbClr val="9BAEC4"/>
                </a:solidFill>
                <a:latin typeface="Aptos"/>
              </a:defRPr>
            </a:pPr>
            <a:r>
              <a:t>SCAMLENS  ?  HACKATHON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ScamLens | Hackathon Presentation</dc:title>
  <dc:subject>A browser-based cyber scam awareness demo</dc:subject>
  <dc:creator>ScamLens</dc:creator>
  <cp:keywords>ScamLens, cybersecurity, scam awareness,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