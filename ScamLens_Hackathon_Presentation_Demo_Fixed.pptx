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01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2514600" cy="283464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513332"/>
            <a:ext cx="68580" cy="68580"/>
          </a:xfrm>
          <a:prstGeom prst="roundRect">
            <a:avLst>
              <a:gd name="adj" fmla="val 12000"/>
            </a:avLst>
          </a:prstGeom>
          <a:solidFill>
            <a:srgbClr val="55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67612"/>
            <a:ext cx="222199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08111F"/>
                </a:solidFill>
                <a:latin typeface="Aptos"/>
              </a:defRPr>
            </a:pPr>
            <a:r>
              <a:t>HACKATHON PROJECT  ?  CYBER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385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5200" b="1" i="0">
                <a:solidFill>
                  <a:srgbClr val="F5F8FC"/>
                </a:solidFill>
                <a:latin typeface="Aptos Display"/>
              </a:defRPr>
            </a:pPr>
            <a:r>
              <a:t>ScamLens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880360"/>
            <a:ext cx="52120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 i="0">
                <a:solidFill>
                  <a:srgbClr val="55E0D0"/>
                </a:solidFill>
                <a:latin typeface="Aptos Display"/>
              </a:defRPr>
            </a:pPr>
            <a:r>
              <a:t>Spot the signal.</a:t>
            </a:r>
            <a:br/>
            <a:r>
              <a:t>Skip the scam.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187952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 i="0">
                <a:solidFill>
                  <a:srgbClr val="9BAEC4"/>
                </a:solidFill>
                <a:latin typeface="Aptos"/>
              </a:defRPr>
            </a:pPr>
            <a:r>
              <a:t>A browser-based scam-awareness demo that turns suspicious links and messages into clear, explainable warning signs.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989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15">
              <a:defRPr sz="900" b="1" i="0">
                <a:solidFill>
                  <a:srgbClr val="F5F8FC"/>
                </a:solidFill>
                <a:latin typeface="Aptos"/>
              </a:defRPr>
            </a:pPr>
            <a:r>
              <a:t>DETECT  /  UNDERSTAND  /  STAY SAFE</a:t>
            </a:r>
          </a:p>
        </p:txBody>
      </p:sp>
      <p:sp>
        <p:nvSpPr>
          <p:cNvPr id="14" name="Oval 13"/>
          <p:cNvSpPr/>
          <p:nvPr/>
        </p:nvSpPr>
        <p:spPr>
          <a:xfrm>
            <a:off x="6652260" y="1321308"/>
            <a:ext cx="4160520" cy="4160520"/>
          </a:xfrm>
          <a:prstGeom prst="ellipse">
            <a:avLst/>
          </a:prstGeom>
          <a:noFill/>
          <a:ln w="1524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31736" y="1700784"/>
            <a:ext cx="3401568" cy="3401568"/>
          </a:xfrm>
          <a:prstGeom prst="ellipse">
            <a:avLst/>
          </a:prstGeom>
          <a:noFill/>
          <a:ln w="12700">
            <a:solidFill>
              <a:srgbClr val="28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15784" y="2084832"/>
            <a:ext cx="2633472" cy="2633472"/>
          </a:xfrm>
          <a:prstGeom prst="ellipse">
            <a:avLst/>
          </a:prstGeom>
          <a:noFill/>
          <a:ln w="10160">
            <a:solidFill>
              <a:srgbClr val="34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748772" y="3369564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25247" y="4070108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69571" y="4686157"/>
            <a:ext cx="64008" cy="64008"/>
          </a:xfrm>
          <a:prstGeom prst="roundRect">
            <a:avLst>
              <a:gd name="adj" fmla="val 12000"/>
            </a:avLst>
          </a:prstGeom>
          <a:solidFill>
            <a:srgbClr val="55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24644" y="5143405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6191" y="5386702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44840" y="5386702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76388" y="5143405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1460" y="4686157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75784" y="4070108"/>
            <a:ext cx="64008" cy="64008"/>
          </a:xfrm>
          <a:prstGeom prst="roundRect">
            <a:avLst>
              <a:gd name="adj" fmla="val 12000"/>
            </a:avLst>
          </a:prstGeom>
          <a:solidFill>
            <a:srgbClr val="55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52260" y="3369564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75784" y="2669019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1460" y="2052970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76388" y="1595722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44840" y="1352425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56191" y="1352425"/>
            <a:ext cx="64008" cy="64008"/>
          </a:xfrm>
          <a:prstGeom prst="roundRect">
            <a:avLst>
              <a:gd name="adj" fmla="val 12000"/>
            </a:avLst>
          </a:prstGeom>
          <a:solidFill>
            <a:srgbClr val="55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24644" y="1595722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69571" y="2052970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625247" y="2669019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54112" y="2423160"/>
            <a:ext cx="1956816" cy="1956816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entagon 35"/>
          <p:cNvSpPr/>
          <p:nvPr/>
        </p:nvSpPr>
        <p:spPr>
          <a:xfrm rot="10800000">
            <a:off x="8275320" y="2788920"/>
            <a:ext cx="914400" cy="1143000"/>
          </a:xfrm>
          <a:prstGeom prst="homePlate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513064" y="3355848"/>
            <a:ext cx="192024" cy="192024"/>
          </a:xfrm>
          <a:prstGeom prst="line">
            <a:avLst/>
          </a:prstGeom>
          <a:ln w="381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05088" y="3163824"/>
            <a:ext cx="292608" cy="384048"/>
          </a:xfrm>
          <a:prstGeom prst="line">
            <a:avLst/>
          </a:prstGeom>
          <a:ln w="381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537960" y="1883664"/>
            <a:ext cx="1188720" cy="283464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29400" y="1979676"/>
            <a:ext cx="68580" cy="68580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1933956"/>
            <a:ext cx="8961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5F8FC"/>
                </a:solidFill>
                <a:latin typeface="Aptos"/>
              </a:defRPr>
            </a:pPr>
            <a:r>
              <a:t>URL CHECK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46920" y="4334256"/>
            <a:ext cx="1600200" cy="283464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738360" y="4430268"/>
            <a:ext cx="68580" cy="68580"/>
          </a:xfrm>
          <a:prstGeom prst="roundRect">
            <a:avLst>
              <a:gd name="adj" fmla="val 12000"/>
            </a:avLst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0" y="4384548"/>
            <a:ext cx="130759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5F8FC"/>
                </a:solidFill>
                <a:latin typeface="Aptos"/>
              </a:defRPr>
            </a:pPr>
            <a:r>
              <a:t>MESSAGE CHECK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29400" y="5257800"/>
            <a:ext cx="4206240" cy="48463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5404104"/>
            <a:ext cx="3840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PATTERN-BASED  ?  PRIVATE-BY-DESIGN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02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4183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070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 i="0">
                <a:solidFill>
                  <a:srgbClr val="F5F8FC"/>
                </a:solidFill>
                <a:latin typeface="Aptos Display"/>
              </a:defRPr>
            </a:pPr>
            <a:r>
              <a:t>A convincing message can look ordinary.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9BAEC4"/>
                </a:solidFill>
                <a:latin typeface="Aptos"/>
              </a:defRPr>
            </a:pPr>
            <a:r>
              <a:t>The risky part is often hidden in the details?and users have to decide in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5074920" cy="3401568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2491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80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INBOX  /  NEW MESSAGE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90672"/>
            <a:ext cx="4553712" cy="2176272"/>
          </a:xfrm>
          <a:prstGeom prst="roundRect">
            <a:avLst>
              <a:gd name="adj" fmla="val 12000"/>
            </a:avLst>
          </a:prstGeom>
          <a:solidFill>
            <a:srgbClr val="0C1728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32841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80">
              <a:defRPr sz="900" b="1" i="0">
                <a:solidFill>
                  <a:srgbClr val="FFC66D"/>
                </a:solidFill>
                <a:latin typeface="Aptos"/>
              </a:defRPr>
            </a:pPr>
            <a:r>
              <a:t>ACCOUNT NOTICE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70332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F5F8FC"/>
                </a:solidFill>
                <a:latin typeface="Aptos"/>
              </a:defRPr>
            </a:pPr>
            <a:r>
              <a:t>Your account will be suspended.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123944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 i="0">
                <a:solidFill>
                  <a:srgbClr val="9BAEC4"/>
                </a:solidFill>
                <a:latin typeface="Aptos"/>
              </a:defRPr>
            </a:pPr>
            <a:r>
              <a:t>Verify now to restore access: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471416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F6B7A"/>
                </a:solidFill>
                <a:latin typeface="Aptos"/>
              </a:defRPr>
            </a:pPr>
            <a:r>
              <a:t>paypa1-secure-verify.tk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61288" y="4892040"/>
            <a:ext cx="400507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61288" y="5047488"/>
            <a:ext cx="40690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1">
                <a:solidFill>
                  <a:srgbClr val="9BAEC4"/>
                </a:solidFill>
                <a:latin typeface="Aptos"/>
              </a:defRPr>
            </a:pPr>
            <a:r>
              <a:t>Looks familiar. Feels urgent. Deserves a pause.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67004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THE USER IS LEFT 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090672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063240"/>
            <a:ext cx="4782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Guess under pressure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392424"/>
            <a:ext cx="47823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 i="0">
                <a:solidFill>
                  <a:srgbClr val="9BAEC4"/>
                </a:solidFill>
                <a:latin typeface="Aptos"/>
              </a:defRPr>
            </a:pPr>
            <a:r>
              <a:t>Urgency makes careful checks less likely.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032504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005072"/>
            <a:ext cx="4782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Inspect unfamiliar clues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34256"/>
            <a:ext cx="47823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 i="0">
                <a:solidFill>
                  <a:srgbClr val="9BAEC4"/>
                </a:solidFill>
                <a:latin typeface="Aptos"/>
              </a:defRPr>
            </a:pPr>
            <a:r>
              <a:t>Lookalike names and hidden destinations are easy to miss.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974336"/>
            <a:ext cx="82296" cy="82296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4946904"/>
            <a:ext cx="4782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Find trustworthy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5276088"/>
            <a:ext cx="47823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 i="0">
                <a:solidFill>
                  <a:srgbClr val="9BAEC4"/>
                </a:solidFill>
                <a:latin typeface="Aptos"/>
              </a:defRPr>
            </a:pPr>
            <a:r>
              <a:t>Technical warnings are not always easy to understand.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6144768"/>
            <a:ext cx="10881360" cy="338328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" y="622706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0">
              <a:defRPr sz="800" b="1" i="0">
                <a:solidFill>
                  <a:srgbClr val="55E0D0"/>
                </a:solidFill>
                <a:latin typeface="Aptos"/>
              </a:defRPr>
            </a:pPr>
            <a:r>
              <a:t>DESIGN OPPORTUNITY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8" y="6199632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Make scam-awareness fast, understandable, and actionable.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03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4183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THE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070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 i="0">
                <a:solidFill>
                  <a:srgbClr val="F5F8FC"/>
                </a:solidFill>
                <a:latin typeface="Aptos Display"/>
              </a:defRPr>
            </a:pPr>
            <a:r>
              <a:t>From ?Is this real?? to ?Here?s what to check.?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9BAEC4"/>
                </a:solidFill>
                <a:latin typeface="Aptos"/>
              </a:defRPr>
            </a:pPr>
            <a:r>
              <a:t>ScamLens gives everyday users a simple place to inspect suspicious content and learn what raised concern.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633472"/>
            <a:ext cx="3383280" cy="226771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89504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 i="0">
                <a:solidFill>
                  <a:srgbClr val="63A8FF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2907792"/>
            <a:ext cx="987552" cy="283464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44368" y="3003804"/>
            <a:ext cx="68580" cy="68580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2958084"/>
            <a:ext cx="69494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5F8F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502152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F5F8FC"/>
                </a:solidFill>
                <a:latin typeface="Aptos"/>
              </a:defRPr>
            </a:pPr>
            <a:r>
              <a:t>BRING IT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968496"/>
            <a:ext cx="2788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 i="0">
                <a:solidFill>
                  <a:srgbClr val="9BAEC4"/>
                </a:solidFill>
                <a:latin typeface="Aptos"/>
              </a:defRPr>
            </a:pPr>
            <a:r>
              <a:t>Paste a URL, SMS, email?or screenshot text.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23944" y="3730752"/>
            <a:ext cx="301752" cy="0"/>
          </a:xfrm>
          <a:prstGeom prst="line">
            <a:avLst/>
          </a:prstGeom>
          <a:ln w="25400">
            <a:solidFill>
              <a:srgbClr val="63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78808" y="3520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 i="0">
                <a:solidFill>
                  <a:srgbClr val="63A8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7992" y="2633472"/>
            <a:ext cx="3383280" cy="226771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2889504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 i="0">
                <a:solidFill>
                  <a:srgbClr val="55E0D0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7688" y="2907792"/>
            <a:ext cx="987552" cy="283464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39128" y="3003804"/>
            <a:ext cx="68580" cy="68580"/>
          </a:xfrm>
          <a:prstGeom prst="roundRect">
            <a:avLst>
              <a:gd name="adj" fmla="val 12000"/>
            </a:avLst>
          </a:prstGeom>
          <a:solidFill>
            <a:srgbClr val="55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2958084"/>
            <a:ext cx="69494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5F8FC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4024" y="3502152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F5F8FC"/>
                </a:solidFill>
                <a:latin typeface="Aptos"/>
              </a:defRPr>
            </a:pPr>
            <a:r>
              <a:t>CHECK THE SIGNS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024" y="3968496"/>
            <a:ext cx="2788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 i="0">
                <a:solidFill>
                  <a:srgbClr val="9BAEC4"/>
                </a:solidFill>
                <a:latin typeface="Aptos"/>
              </a:defRPr>
            </a:pPr>
            <a:r>
              <a:t>Look for common suspicious patterns.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18704" y="3730752"/>
            <a:ext cx="301752" cy="0"/>
          </a:xfrm>
          <a:prstGeom prst="line">
            <a:avLst/>
          </a:prstGeom>
          <a:ln w="25400">
            <a:solidFill>
              <a:srgbClr val="55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73568" y="3520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 i="0">
                <a:solidFill>
                  <a:srgbClr val="55E0D0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2752" y="2633472"/>
            <a:ext cx="3383280" cy="226771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2889504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 i="0">
                <a:solidFill>
                  <a:srgbClr val="65D6A1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42448" y="2907792"/>
            <a:ext cx="987552" cy="283464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33888" y="3003804"/>
            <a:ext cx="68580" cy="68580"/>
          </a:xfrm>
          <a:prstGeom prst="roundRect">
            <a:avLst>
              <a:gd name="adj" fmla="val 12000"/>
            </a:avLst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71048" y="2958084"/>
            <a:ext cx="69494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5F8FC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3502152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F5F8FC"/>
                </a:solidFill>
                <a:latin typeface="Aptos"/>
              </a:defRPr>
            </a:pPr>
            <a:r>
              <a:t>UNDERSTAND WHY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3968496"/>
            <a:ext cx="2788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 i="0">
                <a:solidFill>
                  <a:srgbClr val="9BAEC4"/>
                </a:solidFill>
                <a:latin typeface="Aptos"/>
              </a:defRPr>
            </a:pPr>
            <a:r>
              <a:t>See risk indicators and practical guidance.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5285232"/>
            <a:ext cx="10927080" cy="630936"/>
          </a:xfrm>
          <a:prstGeom prst="roundRect">
            <a:avLst>
              <a:gd name="adj" fmla="val 12000"/>
            </a:avLst>
          </a:prstGeom>
          <a:solidFill>
            <a:srgbClr val="112437"/>
          </a:solidFill>
          <a:ln w="12700">
            <a:solidFill>
              <a:srgbClr val="24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477256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PRODUCT PRINCIPLE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404104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 i="0">
                <a:solidFill>
                  <a:srgbClr val="F5F8FC"/>
                </a:solidFill>
                <a:latin typeface="Aptos Display"/>
              </a:defRPr>
            </a:pPr>
            <a:r>
              <a:t>Explain the clue?not just the score.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5449824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Clear, educational pattern assessments; never a safety guarantee.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04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4183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ONE TOOLKIT  /  FOUR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070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 i="0">
                <a:solidFill>
                  <a:srgbClr val="F5F8FC"/>
                </a:solidFill>
                <a:latin typeface="Aptos Display"/>
              </a:defRPr>
            </a:pPr>
            <a:r>
              <a:t>Meet the ScamLens analyzers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9BAEC4"/>
                </a:solidFill>
                <a:latin typeface="Aptos"/>
              </a:defRPr>
            </a:pPr>
            <a:r>
              <a:t>A single, responsive experience for the kinds of suspicious content users encounter every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542032"/>
            <a:ext cx="5166360" cy="139903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2770632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25496"/>
            <a:ext cx="6583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 i="0">
                <a:solidFill>
                  <a:srgbClr val="63A8FF"/>
                </a:solidFill>
                <a:latin typeface="Aptos Display"/>
              </a:defRPr>
            </a:pPr>
            <a:r>
              <a:t>Link2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8216" y="275234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0">
              <a:defRPr sz="900" b="1" i="0">
                <a:solidFill>
                  <a:srgbClr val="63A8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6" y="29900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8216" y="3374136"/>
            <a:ext cx="377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 i="0">
                <a:solidFill>
                  <a:srgbClr val="9BAEC4"/>
                </a:solidFill>
                <a:latin typeface="Aptos"/>
              </a:defRPr>
            </a:pPr>
            <a:r>
              <a:t>HTTPS, IP-host links, lookalike brands, suspicious domains and account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2542032"/>
            <a:ext cx="5166360" cy="139903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37375" y="2770632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5" y="2825496"/>
            <a:ext cx="6583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 i="0">
                <a:solidFill>
                  <a:srgbClr val="65D6A1"/>
                </a:solidFill>
                <a:latin typeface="Aptos Display"/>
              </a:defRPr>
            </a:pPr>
            <a:r>
              <a:t>SMS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275234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0">
              <a:defRPr sz="900" b="1" i="0">
                <a:solidFill>
                  <a:srgbClr val="65D6A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29900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SMS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3374136"/>
            <a:ext cx="377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 i="0">
                <a:solidFill>
                  <a:srgbClr val="9BAEC4"/>
                </a:solidFill>
                <a:latin typeface="Aptos"/>
              </a:defRPr>
            </a:pPr>
            <a:r>
              <a:t>Urgency, OTP requests, prizes, payment language and shortened links.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4206240"/>
            <a:ext cx="5166360" cy="139903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" y="4434840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489703"/>
            <a:ext cx="6583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 i="0">
                <a:solidFill>
                  <a:srgbClr val="FFC66D"/>
                </a:solidFill>
                <a:latin typeface="Aptos Display"/>
              </a:defRPr>
            </a:pPr>
            <a:r>
              <a:t>@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28216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0">
              <a:defRPr sz="900" b="1" i="0">
                <a:solidFill>
                  <a:srgbClr val="FFC66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28216" y="465429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28216" y="5038344"/>
            <a:ext cx="377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 i="0">
                <a:solidFill>
                  <a:srgbClr val="9BAEC4"/>
                </a:solidFill>
                <a:latin typeface="Aptos"/>
              </a:defRPr>
            </a:pPr>
            <a:r>
              <a:t>Sender, subject, body and links checked for common scam patterns.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7" y="4206240"/>
            <a:ext cx="5166360" cy="139903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37375" y="4434840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5" y="4489703"/>
            <a:ext cx="6583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 i="0">
                <a:solidFill>
                  <a:srgbClr val="55E0D0"/>
                </a:solidFill>
                <a:latin typeface="Aptos Display"/>
              </a:defRPr>
            </a:pPr>
            <a:r>
              <a:t>IMG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79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79" y="465429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SCREENSHOT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79" y="5038344"/>
            <a:ext cx="377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 i="0">
                <a:solidFill>
                  <a:srgbClr val="9BAEC4"/>
                </a:solidFill>
                <a:latin typeface="Aptos"/>
              </a:defRPr>
            </a:pPr>
            <a:r>
              <a:t>Upload a local preview, then paste visible text for analysis. No automatic OCR.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" y="5971032"/>
            <a:ext cx="10707624" cy="457200"/>
          </a:xfrm>
          <a:prstGeom prst="roundRect">
            <a:avLst>
              <a:gd name="adj" fmla="val 12000"/>
            </a:avLst>
          </a:prstGeom>
          <a:solidFill>
            <a:srgbClr val="112437"/>
          </a:solidFill>
          <a:ln w="12700">
            <a:solidFill>
              <a:srgbClr val="24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6117336"/>
            <a:ext cx="640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0">
              <a:defRPr sz="800" b="1" i="0">
                <a:solidFill>
                  <a:srgbClr val="55E0D0"/>
                </a:solidFill>
                <a:latin typeface="Aptos"/>
              </a:defRPr>
            </a:pPr>
            <a:r>
              <a:t>BONUS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0784" y="605332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Cybersecurity guidance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6080760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Prepared educational replies?not a live AI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05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4183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UNDER THE 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070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 i="0">
                <a:solidFill>
                  <a:srgbClr val="F5F8FC"/>
                </a:solidFill>
                <a:latin typeface="Aptos Display"/>
              </a:defRPr>
            </a:pPr>
            <a:r>
              <a:t>Simple checks. Clear explanations.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9BAEC4"/>
                </a:solidFill>
                <a:latin typeface="Aptos"/>
              </a:defRPr>
            </a:pPr>
            <a:r>
              <a:t>A lightweight browser demo evaluates common patterns and returns an educational risk assessment.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5806440" cy="749808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68580" cy="749808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529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63A8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78892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834640"/>
            <a:ext cx="2907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 i="0">
                <a:solidFill>
                  <a:srgbClr val="9BAEC4"/>
                </a:solidFill>
                <a:latin typeface="Aptos"/>
              </a:defRPr>
            </a:pPr>
            <a:r>
              <a:t>URL  /  MESSAGE  /  TEXT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3419856"/>
            <a:ext cx="0" cy="192024"/>
          </a:xfrm>
          <a:prstGeom prst="line">
            <a:avLst/>
          </a:prstGeom>
          <a:ln w="16510">
            <a:solidFill>
              <a:srgbClr val="63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3675887"/>
            <a:ext cx="5806440" cy="749808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75887"/>
            <a:ext cx="68580" cy="749808"/>
          </a:xfrm>
          <a:prstGeom prst="rect">
            <a:avLst/>
          </a:prstGeom>
          <a:solidFill>
            <a:srgbClr val="55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877055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55E0D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3813048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PATTERN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3858768"/>
            <a:ext cx="2907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 i="0">
                <a:solidFill>
                  <a:srgbClr val="9BAEC4"/>
                </a:solidFill>
                <a:latin typeface="Aptos"/>
              </a:defRPr>
            </a:pPr>
            <a:r>
              <a:t>Urgency  ?  OTP  ?  Lookalikes  ?  Links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43000" y="4443983"/>
            <a:ext cx="0" cy="192024"/>
          </a:xfrm>
          <a:prstGeom prst="line">
            <a:avLst/>
          </a:prstGeom>
          <a:ln w="16510">
            <a:solidFill>
              <a:srgbClr val="55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1520" y="4700016"/>
            <a:ext cx="5806440" cy="749808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700016"/>
            <a:ext cx="68580" cy="749808"/>
          </a:xfrm>
          <a:prstGeom prst="rect">
            <a:avLst/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01184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65D6A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" y="4837176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4882896"/>
            <a:ext cx="2907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 i="0">
                <a:solidFill>
                  <a:srgbClr val="9BAEC4"/>
                </a:solidFill>
                <a:latin typeface="Aptos"/>
              </a:defRPr>
            </a:pPr>
            <a:r>
              <a:t>High risk  /  Caution  /  Low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2596896"/>
            <a:ext cx="4334256" cy="3456432"/>
          </a:xfrm>
          <a:prstGeom prst="roundRect">
            <a:avLst>
              <a:gd name="adj" fmla="val 12000"/>
            </a:avLst>
          </a:prstGeom>
          <a:solidFill>
            <a:srgbClr val="111D2E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28803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FFC66D"/>
                </a:solidFill>
                <a:latin typeface="Aptos"/>
              </a:defRPr>
            </a:pPr>
            <a:r>
              <a:t>EXAMPLE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33488" y="3264408"/>
            <a:ext cx="3712463" cy="612648"/>
          </a:xfrm>
          <a:prstGeom prst="roundRect">
            <a:avLst>
              <a:gd name="adj" fmla="val 12000"/>
            </a:avLst>
          </a:prstGeom>
          <a:solidFill>
            <a:srgbClr val="2B202B"/>
          </a:solidFill>
          <a:ln w="12700">
            <a:solidFill>
              <a:srgbClr val="49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25512" y="345643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27264" y="3456432"/>
            <a:ext cx="29260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5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HIGH RISK INDICATORS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33488" y="4160520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34656" y="4133087"/>
            <a:ext cx="35021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Lookalike brand spelling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656" y="4462272"/>
            <a:ext cx="3502151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 i="0">
                <a:solidFill>
                  <a:srgbClr val="9BAEC4"/>
                </a:solidFill>
                <a:latin typeface="Aptos"/>
              </a:defRPr>
            </a:pPr>
            <a:r>
              <a:t>paypa1 uses a numeral in place of a letter.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33488" y="4983480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4656" y="4956048"/>
            <a:ext cx="35021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Uncommon domain ending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34656" y="5285232"/>
            <a:ext cx="3502151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 i="0">
                <a:solidFill>
                  <a:srgbClr val="9BAEC4"/>
                </a:solidFill>
                <a:latin typeface="Aptos"/>
              </a:defRPr>
            </a:pPr>
            <a:r>
              <a:t>.tk is flagged by the demo?s pattern checks.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3488" y="5605272"/>
            <a:ext cx="3703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 i="1">
                <a:solidFill>
                  <a:srgbClr val="9BAEC4"/>
                </a:solidFill>
                <a:latin typeface="Aptos"/>
              </a:defRPr>
            </a:pPr>
            <a:r>
              <a:t>Illustrative example?not a live reputation lookup.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97764"/>
            <a:ext cx="292608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defRPr sz="1300" b="1">
                <a:solidFill>
                  <a:srgbClr val="08111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1000" b="1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defRPr sz="900" b="1">
                <a:solidFill>
                  <a:srgbClr val="9BAEC4"/>
                </a:solidFill>
                <a:latin typeface="Aptos"/>
              </a:defRPr>
            </a:pPr>
            <a:r>
              <a:t>06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36576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900" b="1">
                <a:solidFill>
                  <a:srgbClr val="55E0D0"/>
                </a:solidFill>
                <a:latin typeface="Aptos"/>
              </a:defRPr>
            </a:pPr>
            <a:r>
              <a:t>LIVE DEMO  /  40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188720"/>
            <a:ext cx="10789920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t>Let the clues tell the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104241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1300" b="0">
                <a:solidFill>
                  <a:srgbClr val="9BAEC4"/>
                </a:solidFill>
                <a:latin typeface="Aptos"/>
              </a:defRPr>
            </a:pPr>
            <a:r>
              <a:t>One built-in URL example. Three explainable warning signs. No need to open the link.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95728"/>
            <a:ext cx="6510528" cy="3611880"/>
          </a:xfrm>
          <a:prstGeom prst="roundRect">
            <a:avLst>
              <a:gd name="adj" fmla="val 12000"/>
            </a:avLst>
          </a:prstGeom>
          <a:solidFill>
            <a:srgbClr val="0B1524"/>
          </a:solidFill>
          <a:ln w="12700">
            <a:solidFill>
              <a:srgbClr val="30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6510528" cy="393192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6968" y="2551176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0704" y="2551176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34440" y="2551176"/>
            <a:ext cx="68580" cy="68580"/>
          </a:xfrm>
          <a:prstGeom prst="roundRect">
            <a:avLst>
              <a:gd name="adj" fmla="val 12000"/>
            </a:avLst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2523744"/>
            <a:ext cx="338328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800" b="1">
                <a:solidFill>
                  <a:srgbClr val="9BAEC4"/>
                </a:solidFill>
                <a:latin typeface="Aptos"/>
              </a:defRPr>
            </a:pPr>
            <a:r>
              <a:t>SCAMLENS  /  URL 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990088"/>
            <a:ext cx="53949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Enter URL to analyze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3328416"/>
            <a:ext cx="5824728" cy="466344"/>
          </a:xfrm>
          <a:prstGeom prst="roundRect">
            <a:avLst>
              <a:gd name="adj" fmla="val 12000"/>
            </a:avLst>
          </a:prstGeom>
          <a:solidFill>
            <a:srgbClr val="08111F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" y="3465576"/>
            <a:ext cx="54406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950" b="0">
                <a:solidFill>
                  <a:srgbClr val="F5F8FC"/>
                </a:solidFill>
                <a:latin typeface="Aptos"/>
              </a:defRPr>
            </a:pPr>
            <a:r>
              <a:t>https://paypa1-secure-verify.tk/account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33288" y="3886200"/>
            <a:ext cx="1078992" cy="33832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3986784"/>
            <a:ext cx="1005840" cy="1371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defRPr sz="800" b="1">
                <a:solidFill>
                  <a:srgbClr val="08111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" y="4370832"/>
            <a:ext cx="5824728" cy="1298448"/>
          </a:xfrm>
          <a:prstGeom prst="roundRect">
            <a:avLst>
              <a:gd name="adj" fmla="val 12000"/>
            </a:avLst>
          </a:prstGeom>
          <a:solidFill>
            <a:srgbClr val="261D28"/>
          </a:solidFill>
          <a:ln w="12700">
            <a:solidFill>
              <a:srgbClr val="5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88720" y="4590288"/>
            <a:ext cx="155448" cy="155448"/>
          </a:xfrm>
          <a:prstGeom prst="roundRect">
            <a:avLst>
              <a:gd name="adj" fmla="val 12000"/>
            </a:avLst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53896" y="4572000"/>
            <a:ext cx="43891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1000" b="1">
                <a:solidFill>
                  <a:srgbClr val="F5F8FC"/>
                </a:solidFill>
                <a:latin typeface="Aptos"/>
              </a:defRPr>
            </a:pPr>
            <a:r>
              <a:t>HIGH RISK INDICATORS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7008" y="4919472"/>
            <a:ext cx="50292" cy="50292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3312" y="4882896"/>
            <a:ext cx="1572768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850" b="1">
                <a:solidFill>
                  <a:srgbClr val="F5F8FC"/>
                </a:solidFill>
                <a:latin typeface="Aptos"/>
              </a:defRPr>
            </a:pPr>
            <a:r>
              <a:t>Brand lookalike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71216" y="4882896"/>
            <a:ext cx="36118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850" b="0">
                <a:solidFill>
                  <a:srgbClr val="9BAEC4"/>
                </a:solidFill>
                <a:latin typeface="Aptos"/>
              </a:defRPr>
            </a:pPr>
            <a:r>
              <a:t>?paypa1? uses a numeral.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07008" y="5157216"/>
            <a:ext cx="50292" cy="50292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53312" y="5120640"/>
            <a:ext cx="1572768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850" b="1">
                <a:solidFill>
                  <a:srgbClr val="F5F8FC"/>
                </a:solidFill>
                <a:latin typeface="Aptos"/>
              </a:defRPr>
            </a:pPr>
            <a:r>
              <a:t>Uncommon 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1216" y="5120640"/>
            <a:ext cx="36118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850" b="0">
                <a:solidFill>
                  <a:srgbClr val="9BAEC4"/>
                </a:solidFill>
                <a:latin typeface="Aptos"/>
              </a:defRPr>
            </a:pPr>
            <a:r>
              <a:t>The domain ends in ?.tk?.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7008" y="5394959"/>
            <a:ext cx="50292" cy="50292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53312" y="5358383"/>
            <a:ext cx="1572768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850" b="1">
                <a:solidFill>
                  <a:srgbClr val="F5F8FC"/>
                </a:solidFill>
                <a:latin typeface="Aptos"/>
              </a:defRPr>
            </a:pPr>
            <a:r>
              <a:t>Account wording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71216" y="5358383"/>
            <a:ext cx="36118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850" b="0">
                <a:solidFill>
                  <a:srgbClr val="9BAEC4"/>
                </a:solidFill>
                <a:latin typeface="Aptos"/>
              </a:defRPr>
            </a:pPr>
            <a:r>
              <a:t>?account? on a non-official-looking host.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60" y="2395728"/>
            <a:ext cx="4069080" cy="3611880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44968" y="2660904"/>
            <a:ext cx="20116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900" b="1">
                <a:solidFill>
                  <a:srgbClr val="55E0D0"/>
                </a:solidFill>
                <a:latin typeface="Aptos"/>
              </a:defRPr>
            </a:pPr>
            <a:r>
              <a:t>SAY  /  DO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44968" y="3008376"/>
            <a:ext cx="603504" cy="256032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81544" y="3063240"/>
            <a:ext cx="530352" cy="1280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defRPr sz="800" b="1">
                <a:solidFill>
                  <a:srgbClr val="63A8FF"/>
                </a:solidFill>
                <a:latin typeface="Aptos"/>
              </a:defRPr>
            </a:pPr>
            <a:r>
              <a:t>00?08s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3017520"/>
            <a:ext cx="22860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900" b="1">
                <a:solidFill>
                  <a:srgbClr val="63A8FF"/>
                </a:solidFill>
                <a:latin typeface="Aptos"/>
              </a:defRPr>
            </a:pPr>
            <a:r>
              <a:t>HOOK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632" y="3255264"/>
            <a:ext cx="2688336" cy="4297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950" b="0">
                <a:solidFill>
                  <a:srgbClr val="F5F8FC"/>
                </a:solidFill>
                <a:latin typeface="Aptos"/>
              </a:defRPr>
            </a:pPr>
            <a:r>
              <a:t>Ask: ?Would you trust this link with your account??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37575" y="3493008"/>
            <a:ext cx="16459" cy="210312"/>
          </a:xfrm>
          <a:prstGeom prst="rect">
            <a:avLst/>
          </a:prstGeom>
          <a:solidFill>
            <a:srgbClr val="26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744968" y="3822191"/>
            <a:ext cx="603504" cy="256032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81544" y="3877055"/>
            <a:ext cx="530352" cy="1280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defRPr sz="800" b="1">
                <a:solidFill>
                  <a:srgbClr val="55E0D0"/>
                </a:solidFill>
                <a:latin typeface="Aptos"/>
              </a:defRPr>
            </a:pPr>
            <a:r>
              <a:t>08?20s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3831335"/>
            <a:ext cx="22860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900" b="1">
                <a:solidFill>
                  <a:srgbClr val="55E0D0"/>
                </a:solidFill>
                <a:latin typeface="Aptos"/>
              </a:defRPr>
            </a:pPr>
            <a:r>
              <a:t>RUN 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4069079"/>
            <a:ext cx="2688336" cy="4297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950" b="0">
                <a:solidFill>
                  <a:srgbClr val="F5F8FC"/>
                </a:solidFill>
                <a:latin typeface="Aptos"/>
              </a:defRPr>
            </a:pPr>
            <a:r>
              <a:t>Open URL Analyzer. Choose the built-in PayPal-lookalike example; press Analyze.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37575" y="4306824"/>
            <a:ext cx="16459" cy="210312"/>
          </a:xfrm>
          <a:prstGeom prst="rect">
            <a:avLst/>
          </a:prstGeom>
          <a:solidFill>
            <a:srgbClr val="26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744968" y="4636008"/>
            <a:ext cx="603504" cy="256032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81544" y="4690872"/>
            <a:ext cx="530352" cy="1280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defRPr sz="800" b="1">
                <a:solidFill>
                  <a:srgbClr val="FFC66D"/>
                </a:solidFill>
                <a:latin typeface="Aptos"/>
              </a:defRPr>
            </a:pPr>
            <a:r>
              <a:t>20?35s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4645152"/>
            <a:ext cx="22860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900" b="1">
                <a:solidFill>
                  <a:srgbClr val="FFC66D"/>
                </a:solidFill>
                <a:latin typeface="Aptos"/>
              </a:defRPr>
            </a:pPr>
            <a:r>
              <a:t>REVEAL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4882896"/>
            <a:ext cx="2688336" cy="4297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950" b="0">
                <a:solidFill>
                  <a:srgbClr val="F5F8FC"/>
                </a:solidFill>
                <a:latin typeface="Aptos"/>
              </a:defRPr>
            </a:pPr>
            <a:r>
              <a:t>Point to the lookalike spelling, .tk ending, and account wording.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44968" y="5532120"/>
            <a:ext cx="3465576" cy="347472"/>
          </a:xfrm>
          <a:prstGeom prst="roundRect">
            <a:avLst>
              <a:gd name="adj" fmla="val 12000"/>
            </a:avLst>
          </a:prstGeom>
          <a:solidFill>
            <a:srgbClr val="172B35"/>
          </a:solidFill>
          <a:ln w="12700">
            <a:solidFill>
              <a:srgbClr val="284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82127" y="5632704"/>
            <a:ext cx="640080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800" b="1">
                <a:solidFill>
                  <a:srgbClr val="65D6A1"/>
                </a:solidFill>
                <a:latin typeface="Aptos"/>
              </a:defRPr>
            </a:pPr>
            <a:r>
              <a:t>LAND 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22208" y="5577840"/>
            <a:ext cx="2523744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850" b="1">
                <a:solidFill>
                  <a:srgbClr val="F5F8FC"/>
                </a:solidFill>
                <a:latin typeface="Aptos"/>
              </a:defRPr>
            </a:pPr>
            <a:r>
              <a:t>?Check the clue. Verify through the official app.?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6236208"/>
            <a:ext cx="10863072" cy="329184"/>
          </a:xfrm>
          <a:prstGeom prst="roundRect">
            <a:avLst>
              <a:gd name="adj" fmla="val 12000"/>
            </a:avLst>
          </a:prstGeom>
          <a:solidFill>
            <a:srgbClr val="2C2418"/>
          </a:solidFill>
          <a:ln w="12700">
            <a:solidFill>
              <a:srgbClr val="514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" y="6327648"/>
            <a:ext cx="914400" cy="1280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800" b="1">
                <a:solidFill>
                  <a:srgbClr val="FFC66D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6300216"/>
            <a:ext cx="93268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defRPr sz="900" b="0">
                <a:solidFill>
                  <a:srgbClr val="F5F8FC"/>
                </a:solidFill>
                <a:latin typeface="Aptos"/>
              </a:defRPr>
            </a:pPr>
            <a:r>
              <a:t>Analyze the URL as text?never visit it. This is a pattern-based demo, not a real-time threat lookup.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07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4183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TRUST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070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 i="0">
                <a:solidFill>
                  <a:srgbClr val="F5F8FC"/>
                </a:solidFill>
                <a:latin typeface="Aptos Display"/>
              </a:defRPr>
            </a:pPr>
            <a:r>
              <a:t>Useful guidance?with honest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9BAEC4"/>
                </a:solidFill>
                <a:latin typeface="Aptos"/>
              </a:defRPr>
            </a:pPr>
            <a:r>
              <a:t>The prototype prioritizes clear explanations and local-first handling, while making its limits visible.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560320"/>
            <a:ext cx="5230368" cy="3246120"/>
          </a:xfrm>
          <a:prstGeom prst="roundRect">
            <a:avLst>
              <a:gd name="adj" fmla="val 12000"/>
            </a:avLst>
          </a:prstGeom>
          <a:solidFill>
            <a:srgbClr val="10251F"/>
          </a:solidFill>
          <a:ln w="12700">
            <a:solidFill>
              <a:srgbClr val="254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8346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65D6A1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" y="3300984"/>
            <a:ext cx="82296" cy="82296"/>
          </a:xfrm>
          <a:prstGeom prst="roundRect">
            <a:avLst>
              <a:gd name="adj" fmla="val 12000"/>
            </a:avLst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73552"/>
            <a:ext cx="4325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Runs in the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602736"/>
            <a:ext cx="4325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Pattern-based checks; no live threat database.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4114800"/>
            <a:ext cx="82296" cy="82296"/>
          </a:xfrm>
          <a:prstGeom prst="roundRect">
            <a:avLst>
              <a:gd name="adj" fmla="val 12000"/>
            </a:avLst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087368"/>
            <a:ext cx="4325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Keeps screenshot preview 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416552"/>
            <a:ext cx="4325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The demo does not upload the image.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" y="4928616"/>
            <a:ext cx="82296" cy="82296"/>
          </a:xfrm>
          <a:prstGeom prst="roundRect">
            <a:avLst>
              <a:gd name="adj" fmla="val 12000"/>
            </a:avLst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901184"/>
            <a:ext cx="4325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Stores recent checks on-device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230368"/>
            <a:ext cx="4325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Local browser history for convenience.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2560320"/>
            <a:ext cx="5230368" cy="3246120"/>
          </a:xfrm>
          <a:prstGeom prst="roundRect">
            <a:avLst>
              <a:gd name="adj" fmla="val 12000"/>
            </a:avLst>
          </a:prstGeom>
          <a:solidFill>
            <a:srgbClr val="2A2119"/>
          </a:solidFill>
          <a:ln w="12700">
            <a:solidFill>
              <a:srgbClr val="564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8346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FFC66D"/>
                </a:solidFill>
                <a:latin typeface="Aptos"/>
              </a:defRPr>
            </a:pPr>
            <a:r>
              <a:t>WHAT IT DOES NOT 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9672" y="3300984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273552"/>
            <a:ext cx="4325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Cannot guarantee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602736"/>
            <a:ext cx="4325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A low-risk result is not a clean bill of health.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9672" y="4114800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087368"/>
            <a:ext cx="4325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No automatic screenshot OCR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416552"/>
            <a:ext cx="4325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Users paste the visible text themselves.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9672" y="4928616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901184"/>
            <a:ext cx="4325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No live AI or threat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230368"/>
            <a:ext cx="4325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Assistant replies are prepared; checks use basic patterns.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6163056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Never paste real passwords, OTPs, PINs, or payment details into the demo.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08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WHAT?S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07592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 i="0">
                <a:solidFill>
                  <a:srgbClr val="F5F8FC"/>
                </a:solidFill>
                <a:latin typeface="Aptos Display"/>
              </a:defRPr>
            </a:pPr>
            <a:r>
              <a:t>Build toward a</a:t>
            </a:r>
            <a:br/>
            <a:r>
              <a:t>safer first click.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880360"/>
            <a:ext cx="420624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 i="0">
                <a:solidFill>
                  <a:srgbClr val="9BAEC4"/>
                </a:solidFill>
                <a:latin typeface="Aptos"/>
              </a:defRPr>
            </a:pPr>
            <a:r>
              <a:t>ScamLens is a starting point: make the signal clearer, then make the checks smarter.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96712" y="1353312"/>
            <a:ext cx="5166360" cy="932688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6093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63A8FF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6" y="15270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80">
              <a:defRPr sz="800" b="1" i="0">
                <a:solidFill>
                  <a:srgbClr val="63A8FF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6" y="17739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 i="0">
                <a:solidFill>
                  <a:srgbClr val="F5F8FC"/>
                </a:solidFill>
                <a:latin typeface="Aptos"/>
              </a:defRPr>
            </a:pPr>
            <a:r>
              <a:t>Pattern-based demo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2295144"/>
            <a:ext cx="0" cy="246888"/>
          </a:xfrm>
          <a:prstGeom prst="line">
            <a:avLst/>
          </a:prstGeom>
          <a:ln w="19050">
            <a:solidFill>
              <a:srgbClr val="63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96712" y="2587752"/>
            <a:ext cx="5166360" cy="932688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84378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55E0D0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276148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80">
              <a:defRPr sz="800" b="1" i="0">
                <a:solidFill>
                  <a:srgbClr val="55E0D0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300837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 i="0">
                <a:solidFill>
                  <a:srgbClr val="F5F8FC"/>
                </a:solidFill>
                <a:latin typeface="Aptos"/>
              </a:defRPr>
            </a:pPr>
            <a:r>
              <a:t>OCR + multilingual guidance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72200" y="3529584"/>
            <a:ext cx="0" cy="246888"/>
          </a:xfrm>
          <a:prstGeom prst="line">
            <a:avLst/>
          </a:prstGeom>
          <a:ln w="19050">
            <a:solidFill>
              <a:srgbClr val="55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96712" y="3822191"/>
            <a:ext cx="5166360" cy="932688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7822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65D6A1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39959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80">
              <a:defRPr sz="800" b="1" i="0">
                <a:solidFill>
                  <a:srgbClr val="65D6A1"/>
                </a:solidFill>
                <a:latin typeface="Aptos"/>
              </a:defRPr>
            </a:pPr>
            <a:r>
              <a:t>FUTURE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424281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 i="0">
                <a:solidFill>
                  <a:srgbClr val="F5F8FC"/>
                </a:solidFill>
                <a:latin typeface="Aptos"/>
              </a:defRPr>
            </a:pPr>
            <a:r>
              <a:t>Reputation data + browser extension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" y="4946904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112437"/>
          </a:solidFill>
          <a:ln w="12700">
            <a:solidFill>
              <a:srgbClr val="24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518464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30">
              <a:defRPr sz="1100" b="1" i="0">
                <a:solidFill>
                  <a:srgbClr val="55E0D0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084064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5F8FC"/>
                </a:solidFill>
                <a:latin typeface="Aptos Display"/>
              </a:defRPr>
            </a:pPr>
            <a:r>
              <a:t>Questions?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21224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ScamLens  /  Detect. Understand. Stay Safe.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419088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5">
              <a:defRPr sz="800" b="1" i="0">
                <a:solidFill>
                  <a:srgbClr val="9BAEC4"/>
                </a:solidFill>
                <a:latin typeface="Aptos"/>
              </a:defRPr>
            </a:pPr>
            <a:r>
              <a:t>SCAMLENS  ?  HACKATHON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ScamLens | Hackathon Presentation</dc:title>
  <dc:subject>A browser-based cyber scam awareness demo</dc:subject>
  <dc:creator>ScamLens</dc:creator>
  <cp:keywords>ScamLens, cybersecurity, scam awareness, hackathon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